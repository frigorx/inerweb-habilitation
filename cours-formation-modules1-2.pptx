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❄️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Cours Habilitation Fluide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35661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Formation initiale — Modules 1 &amp;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F0"/>
                </a:solidFill>
              </a:rPr>
              <a:t>  Module 1 : Technologie    Module 2 : Thermodynamique &amp; mesures    ≈ 12 h    Slides · QCM · exercices 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0"/>
                </a:solidFill>
              </a:rPr>
              <a:t>❄️ inerWeb Édu — Habilitation Fluide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🔧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Module 1 — Technologie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35661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Les composants d'une installation frigorifique et les instruments de mesure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F0"/>
                </a:solidFill>
              </a:rPr>
              <a:t>  Compresseur    Condenseur    Détendeur    Évaporateur    Organes annexes    Instruments 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0"/>
                </a:solidFill>
              </a:rPr>
              <a:t>❄️ inerWeb Édu — Habilitation Fluide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1.1 — À quoi sert une installation frigorifique 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C3E50"/>
                </a:solidFill>
              </a:rPr>
              <a:t>Produire du froid = déplacer la chaleur, pas la « fabriquer »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Le froid est l'absence de chaleur : on l'extrait d'un local/produit et on la rejette ailleurs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Le transfert se fait via un fluide frigorigène qui change d'état (liquide ⇄ vapeur)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Évaporation → le fluide absorbe la chaleur (froid) · Condensation → il la rejette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852160"/>
            <a:ext cx="10881360" cy="685800"/>
          </a:xfrm>
          <a:prstGeom prst="rect">
            <a:avLst/>
          </a:prstGeom>
          <a:solidFill>
            <a:srgbClr val="FFF3E6"/>
          </a:solidFill>
          <a:ln w="12700">
            <a:solidFill>
              <a:srgbClr val="E89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897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Le froid se produit à l'évaporateur ; la chaleur se rejette au condenseur.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La croix du frigoriste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97280" y="3703320"/>
            <a:ext cx="9966960" cy="0"/>
          </a:xfrm>
          <a:prstGeom prst="line">
            <a:avLst/>
          </a:prstGeom>
          <a:noFill/>
          <a:ln w="12700">
            <a:solidFill>
              <a:srgbClr val="D7DD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972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HAUTE PRESSION (HP)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6035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AFAF"/>
                </a:solidFill>
              </a:rPr>
              <a:t>BASSE PRESSION (BP)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95360" y="3337560"/>
            <a:ext cx="-1965960" cy="-77724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66360" y="2560320"/>
            <a:ext cx="-1600200" cy="77724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66160" y="4114800"/>
            <a:ext cx="1600200" cy="777240"/>
          </a:xfrm>
          <a:prstGeom prst="line">
            <a:avLst/>
          </a:prstGeom>
          <a:noFill/>
          <a:ln w="31750">
            <a:solidFill>
              <a:srgbClr val="2AAFA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29400" y="4892040"/>
            <a:ext cx="1965960" cy="-777240"/>
          </a:xfrm>
          <a:prstGeom prst="line">
            <a:avLst/>
          </a:prstGeom>
          <a:noFill/>
          <a:ln w="31750">
            <a:solidFill>
              <a:srgbClr val="2AAFAF"/>
            </a:solidFill>
            <a:prstDash val="solid"/>
            <a:tailEnd type="triangle"/>
          </a:ln>
        </p:spPr>
      </p:sp>
      <p:pic>
        <p:nvPicPr>
          <p:cNvPr id="13" name="Image 0" descr="/tmp/sym/echangeur-air-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417320"/>
            <a:ext cx="1828800" cy="1554480"/>
          </a:xfrm>
          <a:prstGeom prst="rect">
            <a:avLst/>
          </a:prstGeom>
        </p:spPr>
      </p:pic>
      <p:pic>
        <p:nvPicPr>
          <p:cNvPr id="14" name="Image 1" descr="/tmp/sym/compresseur-sche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926080"/>
            <a:ext cx="1737360" cy="1554480"/>
          </a:xfrm>
          <a:prstGeom prst="rect">
            <a:avLst/>
          </a:prstGeom>
        </p:spPr>
      </p:pic>
      <p:pic>
        <p:nvPicPr>
          <p:cNvPr id="15" name="Image 2" descr="/tmp/sym/detendeur-sche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26080"/>
            <a:ext cx="1737360" cy="1554480"/>
          </a:xfrm>
          <a:prstGeom prst="rect">
            <a:avLst/>
          </a:prstGeom>
        </p:spPr>
      </p:pic>
      <p:pic>
        <p:nvPicPr>
          <p:cNvPr id="16" name="Image 3" descr="/tmp/sym/evaporateur-mural-dess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4434840"/>
            <a:ext cx="1828800" cy="1554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0916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2"/>
                </a:solidFill>
              </a:rPr>
              <a:t>CONDENSEUR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138160" y="4526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2"/>
                </a:solidFill>
              </a:rPr>
              <a:t>COMPRESSEUR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371600" y="4526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2"/>
                </a:solidFill>
              </a:rPr>
              <a:t>DÉTENDEUR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709160" y="6035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2"/>
                </a:solidFill>
              </a:rPr>
              <a:t>ÉVAPORATEUR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7080"/>
                </a:solidFill>
              </a:rPr>
              <a:t>Sens : Compresseur → Condenseur → Détendeur → Évaporateur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1.2 — Le circuit : rôle de chaque organe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Organe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Pression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Compresseur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BP → HP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Aspire et comprime la vapeur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Condenseur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HP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Rejette la chaleur (vapeur → liquide)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Détendeur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HP → BP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Abaisse la pression et dose le fluide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Évaporateur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BP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Absorbe la chaleur (liquide → vapeur) = le froid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solidFill>
            <a:srgbClr val="EAF3FB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Mnémo « la croix du frigoriste » : Compresseur → Condenseur → Détendeur → Évaporateur.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1.3 — Le compresseur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Rôle &amp; technologies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Montage &amp; précaution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96596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Aspirer la vapeur BP, la comprimer, la refouler en HP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Alternatif (pistons) : robuste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Scroll (spirale) : silencieux, bon rendement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Rotatif : petites puissances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À vis : fortes puissances (industriel)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Hermétique (domestique)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Semi-hermétique (commercial)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Ouvert (moteur séparé)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⚠️ N'aspire que de la VAPEUR : un retour de liquide le détruit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→ d'où l'importance de la surchauffe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1.3 bis — Les familles de compresseurs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377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pic>
        <p:nvPicPr>
          <p:cNvPr id="7" name="Image 0" descr="/tmp/sym/compresseur-piston-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1828800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52"/>
                </a:solidFill>
              </a:rPr>
              <a:t>À pistons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2976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Alternatif, robuste, large gamme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74720" y="1554480"/>
            <a:ext cx="2377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pic>
        <p:nvPicPr>
          <p:cNvPr id="11" name="Image 1" descr="/tmp/sym/compresseur-scroll-sche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828800"/>
            <a:ext cx="1828800" cy="182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52"/>
                </a:solidFill>
              </a:rPr>
              <a:t>Scroll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42976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Spirale, silencieux, bon rendement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1554480"/>
            <a:ext cx="2377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pic>
        <p:nvPicPr>
          <p:cNvPr id="15" name="Image 2" descr="/tmp/sym/compresseur-visse-sche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28800"/>
            <a:ext cx="1828800" cy="1828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52"/>
                </a:solidFill>
              </a:rPr>
              <a:t>À vis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46520" y="42976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Fortes puissances (industriel)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144000" y="1554480"/>
            <a:ext cx="2377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pic>
        <p:nvPicPr>
          <p:cNvPr id="19" name="Image 3" descr="/tmp/sym/compresseur-schem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1828800"/>
            <a:ext cx="1828800" cy="18288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35440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52"/>
                </a:solidFill>
              </a:rPr>
              <a:t>Symbole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281160" y="429768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Représentation normalisée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solidFill>
            <a:srgbClr val="FFF3E6"/>
          </a:solidFill>
          <a:ln w="12700">
            <a:solidFill>
              <a:srgbClr val="E8914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Symboles normalisés — bibliothèque inerWeb Édu (F. Henninot).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1.4 — Le condenseur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Refroidi par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Usage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À air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Ventilation d'air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Le plus courant (clim, commercial)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À eau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Eau (tour, réseau)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Industriel, fortes puissances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Évaporatif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Eau + air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Grosses installations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solidFill>
            <a:srgbClr val="EAF3FB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En sortie : liquide plus froid que la T° de condensation = le sous-refroidissement.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1.5 — Le détendeur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Rôle &amp; technologies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À retenir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96596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Abaisser la pression (HP → BP)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Doser le débit vers l'évaporateur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Capillaire : simple, débit fixe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Thermostatique : régule la surchauffe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Électronique : précis (sonde + moteur)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Maintient une surchauffe constante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Trop ouvert → surchauffe faible → risque liquide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Trop fermé → surchauffe élevée → perte de puissance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1.6 — L'évaporateur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C3E50"/>
                </a:solidFill>
              </a:rPr>
              <a:t>C'est là que se produit le froid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Le fluide BP s'évapore en absorbant la chaleur du local/produit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À détente sèche : fluide entièrement vaporisé + surchauffé (le plus courant)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Noyé : rempli de liquide (industriel, fort rendement)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À air (batterie + ventilateur) ou à eau (refroidisseur)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852160"/>
            <a:ext cx="10881360" cy="685800"/>
          </a:xfrm>
          <a:prstGeom prst="rect">
            <a:avLst/>
          </a:prstGeom>
          <a:solidFill>
            <a:srgbClr val="FFF3E6"/>
          </a:solidFill>
          <a:ln w="12700">
            <a:solidFill>
              <a:srgbClr val="E89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897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La surchauffe se mesure à la sortie de l'évaporateur.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1.7 — Les organes annexes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Circuit liquide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Sécurité &amp; régulation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96596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Filtre déshydrateur : retient humidité/impuretés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Voyant liquide : plein + témoin d'humidité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Bouteille de liquide : réserve de fluide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Séparateur d'huile : renvoie l'huile au compresseur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Bouteille anti-coup de liquide (aspiration)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Pressostats HP/BP : sécurités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Électrovanne : ouvre/ferme le circuit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Vanne 4 voies : inverse le cycle (PAC réversible)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1.7 bis — Organes annexes (symboles)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4325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pic>
        <p:nvPicPr>
          <p:cNvPr id="7" name="Image 0" descr="/tmp/sym/filtre-deshydrateur-dess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883920" cy="883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849880"/>
            <a:ext cx="124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52"/>
                </a:solidFill>
              </a:rPr>
              <a:t>Filtre déshydrateur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29840" y="1554480"/>
            <a:ext cx="14325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pic>
        <p:nvPicPr>
          <p:cNvPr id="10" name="Image 1" descr="/tmp/sym/voyant-liquide-dess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60" y="1828800"/>
            <a:ext cx="883920" cy="883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21280" y="2849880"/>
            <a:ext cx="124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52"/>
                </a:solidFill>
              </a:rPr>
              <a:t>Voyant liquide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419600" y="1554480"/>
            <a:ext cx="14325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pic>
        <p:nvPicPr>
          <p:cNvPr id="13" name="Image 2" descr="/tmp/sym/electrovanne-dess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920" y="1828800"/>
            <a:ext cx="883920" cy="883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11040" y="2849880"/>
            <a:ext cx="124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52"/>
                </a:solidFill>
              </a:rPr>
              <a:t>Électrovanne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309360" y="1554480"/>
            <a:ext cx="14325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pic>
        <p:nvPicPr>
          <p:cNvPr id="16" name="Image 3" descr="/tmp/sym/pressostat-dess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28800"/>
            <a:ext cx="883920" cy="883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0" y="2849880"/>
            <a:ext cx="124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52"/>
                </a:solidFill>
              </a:rPr>
              <a:t>Pressostat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8199120" y="1554480"/>
            <a:ext cx="14325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pic>
        <p:nvPicPr>
          <p:cNvPr id="19" name="Image 4" descr="/tmp/sym/bouteille-verticale-schem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3440" y="1828800"/>
            <a:ext cx="883920" cy="883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90560" y="2849880"/>
            <a:ext cx="124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52"/>
                </a:solidFill>
              </a:rPr>
              <a:t>Bouteille liquide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10088880" y="1554480"/>
            <a:ext cx="14325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pic>
        <p:nvPicPr>
          <p:cNvPr id="22" name="Image 5" descr="/tmp/sym/separateur-huile-schem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200" y="1828800"/>
            <a:ext cx="883920" cy="8839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180320" y="2849880"/>
            <a:ext cx="124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52"/>
                </a:solidFill>
              </a:rPr>
              <a:t>Séparateur d'huile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solidFill>
            <a:srgbClr val="FFF3E6"/>
          </a:solidFill>
          <a:ln w="12700">
            <a:solidFill>
              <a:srgbClr val="E8914A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Reconnaître les symboles sur un schéma fluidique fait partie de l'évaluation.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1.8 — Les instruments de mesure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Instrument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Mesure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Utilité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Manifold (HP/BP)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Pressions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Diagnostic, charge, P→T saturée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Sonde de température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T° tubes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Surchauffe &amp; sous-refroidissement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Pince ampèremétrique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Intensité (A)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Contrôle moteur compresseur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Balance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Masse fluide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Charge précise (tCO₂e)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Pompe à vide + vacuomètre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Vide (µmHg)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Déshydratation / tirage au vide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Détecteur de fuite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Présence fluide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Contrôle d'étanchéité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solidFill>
            <a:srgbClr val="EAF3FB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Le manomètre HP/BP donne aussi la température de saturation du fluide (échelle).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1.8 bis — Instruments clés (symboles)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322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pic>
        <p:nvPicPr>
          <p:cNvPr id="7" name="Image 0" descr="/tmp/sym/manifold-dess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520" y="1828800"/>
            <a:ext cx="2377440" cy="2377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34340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52"/>
                </a:solidFill>
              </a:rPr>
              <a:t>Manifold HP/BP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846320"/>
            <a:ext cx="304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Lecture des pressions, charge, diagnostic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19600" y="1554480"/>
            <a:ext cx="3322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pic>
        <p:nvPicPr>
          <p:cNvPr id="11" name="Image 1" descr="/tmp/sym/pompe-vide-dess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28800"/>
            <a:ext cx="2377440" cy="23774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1040" y="434340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52"/>
                </a:solidFill>
              </a:rPr>
              <a:t>Pompe à vide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6760" y="4846320"/>
            <a:ext cx="304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Tirage au vide / déshydratation du circuit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99120" y="1554480"/>
            <a:ext cx="33223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pic>
        <p:nvPicPr>
          <p:cNvPr id="15" name="Image 2" descr="/tmp/sym/detendeur-dess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1560" y="1828800"/>
            <a:ext cx="2377440" cy="23774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90560" y="434340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D52"/>
                </a:solidFill>
              </a:rPr>
              <a:t>Détendeur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36280" y="4846320"/>
            <a:ext cx="304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Régulation de la surchauffe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solidFill>
            <a:srgbClr val="FFF3E6"/>
          </a:solidFill>
          <a:ln w="12700">
            <a:solidFill>
              <a:srgbClr val="E8914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Symboles normalisés — bibliothèque inerWeb Édu.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1.9 — Raccordements &amp; étanchéité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C3E50"/>
                </a:solidFill>
              </a:rPr>
              <a:t>Brasage : assemblage cuivre, avec balayage azote (anti-calamine)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Dudgeon (flare) : raccord conique démontable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Sertissage : raccords mécaniques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C0392B"/>
                </a:solidFill>
              </a:rPr>
              <a:t>⚠️ Essai d'étanchéité à l'AZOTE — jamais à l'oxygène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852160"/>
            <a:ext cx="10881360" cy="685800"/>
          </a:xfrm>
          <a:prstGeom prst="rect">
            <a:avLst/>
          </a:prstGeom>
          <a:solidFill>
            <a:srgbClr val="FFF3E6"/>
          </a:solidFill>
          <a:ln w="12700">
            <a:solidFill>
              <a:srgbClr val="E89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897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Bonne installation = peu de raccords, brasage propre, essai d'étanchéité, vide soigné.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QCM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2D52"/>
                </a:solidFill>
              </a:rPr>
              <a:t>📝  </a:t>
            </a:r>
            <a:pPr indent="0" marL="0">
              <a:buNone/>
            </a:pPr>
            <a:r>
              <a:rPr lang="en-US" sz="2000" b="1" dirty="0">
                <a:solidFill>
                  <a:srgbClr val="0F2D52"/>
                </a:solidFill>
              </a:rPr>
              <a:t>Quel organe fait passer le fluide de BP à HP 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1371600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632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✅ Réponse — 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Le COMPRESSEUR — il aspire la vapeur BP et la refoule en HP.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QCM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2D52"/>
                </a:solidFill>
              </a:rPr>
              <a:t>📝  </a:t>
            </a:r>
            <a:pPr indent="0" marL="0">
              <a:buNone/>
            </a:pPr>
            <a:r>
              <a:rPr lang="en-US" sz="2000" b="1" dirty="0">
                <a:solidFill>
                  <a:srgbClr val="0F2D52"/>
                </a:solidFill>
              </a:rPr>
              <a:t>Des bulles au voyant liquide indiquent le plus souvent…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1371600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632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✅ Réponse — 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Un MANQUE de charge / de sous-refroidissement (liquide non plein).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1 · TECHNOLOGIE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Exercice 1 — Identifier la fonction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✍️ Énoncé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Associe : A. Compresseur  B. Condenseur  C. Détendeur  D. Évaporateur  →  1) Absorbe la chaleur (froid)  2) Comprime la vapeur  3) Rejette la chaleur  4) Abaisse la pression et dose.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0881360" cy="2194560"/>
          </a:xfrm>
          <a:prstGeom prst="rect">
            <a:avLst/>
          </a:prstGeom>
          <a:solidFill>
            <a:srgbClr val="EAF3FB"/>
          </a:solidFill>
          <a:ln w="19050">
            <a:solidFill>
              <a:srgbClr val="0F2D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06908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Correction
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A→2 · B→3 · C→4 · D→1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🌡️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Module 2 — Thermodynamique &amp; mesures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35661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Comprendre, mesurer et diagnostiquer une installation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F0"/>
                </a:solidFill>
              </a:rPr>
              <a:t>  Chaleur &amp; états    Relation P–T    Diagramme p–h    Surchauffe / sous-refroid.    Calculs &amp; diagnostic 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0"/>
                </a:solidFill>
              </a:rPr>
              <a:t>❄️ inerWeb Édu — Habilitation Fluide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2 · THERMODYNAMIQUE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2.1 — Chaleur sensible et chaleur latente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Chaleur sensible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Chaleur latente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96596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Change la TEMPÉRATURE sans changer l'état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Ex. chauffer de l'eau de 20 à 80 °C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Change l'ÉTAT à température constante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Ex. eau qui bout à 100 °C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En froid : exploitée à l'évaporateur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2 · THERMODYNAMIQUE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2.2 — Relation pression–température (saturation)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Exemple R134a (indicatif)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Pression (bar abs)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T° saturation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Évaporation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≈ 2,1 bar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≈ −10 °C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Évaporation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≈ 3,5 bar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≈ 5 °C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Condensation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≈ 10,2 bar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≈ 40 °C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solidFill>
            <a:srgbClr val="EAF3FB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⚠️ Chaque fluide a SA table : toujours utiliser l'échelle du fluide présent.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2 · THERMODYNAMIQUE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2.3 — Le diagramme enthalpique (log p–h)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C3E50"/>
                </a:solidFill>
              </a:rPr>
              <a:t>Le cycle se trace sur un diagramme pression–enthalpie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La « cloche » = courbe de saturation (changement d'état à l'intérieur)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B sortie évap · 1 aspiration · 2 refoulement · 3 entrée détendeur · 4 sortie détendeur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qévap = h₁ − h₄ · wcomp = h₂ − h₁ · COP = q / 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852160"/>
            <a:ext cx="10881360" cy="685800"/>
          </a:xfrm>
          <a:prstGeom prst="rect">
            <a:avLst/>
          </a:prstGeom>
          <a:solidFill>
            <a:srgbClr val="FFF3E6"/>
          </a:solidFill>
          <a:ln w="12700">
            <a:solidFill>
              <a:srgbClr val="E89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897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Outil interactif FRIGOLO Mollier : frigorx.github.io/inerweb-frigolo (tables NIST / CoolProp).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2 · THERMODYNAMIQUE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2.4 — La surchauffe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Définition &amp; mesure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À retenir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96596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Surchauffe = T° aspiration − T° évaporation saturée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T° saturée : lue au manomètre BP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T° réelle : sonde sur le tube d'aspiration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SR utile usuelle : 5 à 8 K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Garantit de la vapeur sèche au compresseur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Trop faible → coup de liquide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Trop forte → évaporateur sous-alimenté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2 · THERMODYNAMIQUE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2.5 — Le sous-refroidissement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41732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4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Définition &amp; mesure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À retenir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96596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SC = T° condensation saturée − T° liquide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T° saturée : lue au manomètre HP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T° réelle : sonde sur la ligne liquide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Valeur usuelle : 3 à 8 K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Garantit du liquide pur au détendeur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SC &lt; 2 K → manque de charge probable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2 · THERMODYNAMIQUE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2.6 — Calculs de performance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Puissance frigorifique Q₀ : chaleur absorbée à l'évaporateur (kW)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C3E50"/>
                </a:solidFill>
              </a:rPr>
              <a:t>COP = P. calorifique / P. électrique (mode chaud)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C3E50"/>
                </a:solidFill>
              </a:rPr>
              <a:t>EER = P. frigorifique / P. électrique (mode froid)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Exemple : 8 kW chaud pour 2 kW élec → COP =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852160"/>
            <a:ext cx="10881360" cy="685800"/>
          </a:xfrm>
          <a:prstGeom prst="rect">
            <a:avLst/>
          </a:prstGeom>
          <a:solidFill>
            <a:srgbClr val="FFF3E6"/>
          </a:solidFill>
          <a:ln w="12700">
            <a:solidFill>
              <a:srgbClr val="E89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8978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Plus le COP/EER est élevé, plus l'installation est efficace — enjeu clé du F-Gas III.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2 · THERMODYNAMIQUE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2.7 — Diagnostic par les mesures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Symptôme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Surchauffe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Sous-refroid.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Cause probable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Manque de charge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élevée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faible (bulles)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Compléter / chercher fuite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Excès de charge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faible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élevé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Retirer du fluide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Détendeur trop fermé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élevée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normal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Régler / vérifier bulbe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Condenseur encrassé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variable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élevé + HP haute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E50"/>
                          </a:solidFill>
                        </a:rPr>
                        <a:t>Nettoyer le condenseur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solidFill>
            <a:srgbClr val="EAF3FB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Lecture croisée surchauffe + sous-refroidissement + HP/BP = base du diagnostic.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2 · THERMODYNAMIQUE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QCM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2D52"/>
                </a:solidFill>
              </a:rPr>
              <a:t>📝  </a:t>
            </a:r>
            <a:pPr indent="0" marL="0">
              <a:buNone/>
            </a:pPr>
            <a:r>
              <a:rPr lang="en-US" sz="2000" b="1" dirty="0">
                <a:solidFill>
                  <a:srgbClr val="0F2D52"/>
                </a:solidFill>
              </a:rPr>
              <a:t>La chaleur qui change l'état sans changer la température est dite…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1371600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632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✅ Réponse — 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LATENTE — exploitée à l'évaporateur (changement d'état à T° constante).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2 · THERMODYNAMIQUE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QCM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2D52"/>
                </a:solidFill>
              </a:rPr>
              <a:t>📝  </a:t>
            </a:r>
            <a:pPr indent="0" marL="0">
              <a:buNone/>
            </a:pPr>
            <a:r>
              <a:rPr lang="en-US" sz="2000" b="1" dirty="0">
                <a:solidFill>
                  <a:srgbClr val="0F2D52"/>
                </a:solidFill>
              </a:rPr>
              <a:t>Surchauffe = 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1371600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632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✅ Réponse — </a:t>
            </a:r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T° d'aspiration − T° d'évaporation saturée (lue au mano BP). SR utile cible : 5–8 K.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2 · THERMODYNAMIQUE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Exercice 2 — Calcul de surchauffe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✍️ Énoncé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T° d'évaporation saturée = +2 °C (mano BP). Sonde aspiration = +9 °C. Calcule la surchauffe ; correcte (5–8 K) 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0881360" cy="2194560"/>
          </a:xfrm>
          <a:prstGeom prst="rect">
            <a:avLst/>
          </a:prstGeom>
          <a:solidFill>
            <a:srgbClr val="EAF3FB"/>
          </a:solidFill>
          <a:ln w="19050">
            <a:solidFill>
              <a:srgbClr val="0F2D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06908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Correction
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Surchauffe = 9 − 2 = 7 K. Correcte → vapeur sèche au compresseur, fonctionnement sain.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73152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4A"/>
                </a:solidFill>
              </a:rPr>
              <a:t>MODULE 2 · THERMODYNAMIQUE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Exercice 3 — Équivalent tCO₂e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✍️ Énoncé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Une installation contient 6 kg de R410A (PRP 2088). Calcule l'équivalent tCO₂e et la fréquence de contrôle.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0881360" cy="2194560"/>
          </a:xfrm>
          <a:prstGeom prst="rect">
            <a:avLst/>
          </a:prstGeom>
          <a:solidFill>
            <a:srgbClr val="EAF3FB"/>
          </a:solidFill>
          <a:ln w="19050">
            <a:solidFill>
              <a:srgbClr val="0F2D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06908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D52"/>
                </a:solidFill>
              </a:rPr>
              <a:t>Correction
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</a:rPr>
              <a:t>tCO₂e = (6 × 2088)/1000 = 12,53. ≥ 5 et &lt; 50 → contrôle ANNUEL (tous les 2 ans si détection installée).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9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✅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Fin des modules 1 &amp;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35661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À suivre : Effet de serre &amp; environnement · Réglementation · Pratique &amp; sécurité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F0"/>
                </a:solidFill>
              </a:rPr>
              <a:t>  Effet de serre    Réglementation    Récupération    Sécurité A2L/A3 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0"/>
                </a:solidFill>
              </a:rPr>
              <a:t>❄️ inerWeb Édu — Habilitation Fluide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Habilitation Fluide — Modules 1 &amp; 2</dc:title>
  <dc:subject>PptxGenJS Presentation</dc:subject>
  <dc:creator>inerWeb Édu</dc:creator>
  <cp:lastModifiedBy>inerWeb Édu</cp:lastModifiedBy>
  <cp:revision>1</cp:revision>
  <dcterms:created xsi:type="dcterms:W3CDTF">2026-06-16T04:11:16Z</dcterms:created>
  <dcterms:modified xsi:type="dcterms:W3CDTF">2026-06-16T04:11:16Z</dcterms:modified>
</cp:coreProperties>
</file>